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1" y="16934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SMART CAMPUS ACCESS CONTROL</a:t>
            </a:r>
          </a:p>
          <a:p>
            <a:pPr>
              <a:spcBef>
                <a:spcPts val="800"/>
              </a:spcBef>
              <a:defRPr sz="1800">
                <a:solidFill>
                  <a:srgbClr val="38BDF8"/>
                </a:solidFill>
                <a:latin typeface="Arial"/>
              </a:defRPr>
            </a:pPr>
            <a:r>
              <a:t>Distributed Microservices, Round-Robin Load Balancing &amp; Cloud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9875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41148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PROJECT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326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Topology: 9 Dockerized Containers  |  Load Balancer: Gateway Round-Robin (50/50)  |  Database: MongoDB Atlas Replica Set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Security: Stateless JWT Bearer Tokens &amp; Role-Based Access Control (Admin / Faculty / Student)</a:t>
            </a:r>
          </a:p>
          <a:p>
            <a:pPr>
              <a:spcBef>
                <a:spcPts val="600"/>
              </a:spcBef>
              <a:defRPr sz="1200">
                <a:solidFill>
                  <a:srgbClr val="10B981"/>
                </a:solidFill>
                <a:latin typeface="Arial"/>
              </a:defRPr>
            </a:pPr>
            <a:r>
              <a:t>Repository: github.com/boukheang/midterm  |  Test Coverage: 18/18 Automated Verification Checks (100%)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ARCHITECTURE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High-Level Distributed System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Microservices decoupled via API Gateway reverse-proxy and synchronized with MongoDB Atlas.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1. INGRESS &amp;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8346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- Port 4000: Single Public Ingress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Reverse proxy routing for all 6 microservices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Stateless JWT Verification Middleware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Round-Robin Load Balancer Dispatcher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Dedicated Web Console &amp; Session Management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CORS &amp; Unified Error Formatting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8404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2. CORE MICROSERVICES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33832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- Registration Service (5001): User profile issuance &amp; Campus Card ID generation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Authentication Service (5002): Password hash verification &amp; JWT signing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Room Service (5003): Room registry, electronic deadbolt lock control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Permission Service (5004): RBAC engine for physical clearance verification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Emergency Service (5006): Instant lockdown propagation across all facilities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737360"/>
            <a:ext cx="2834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23960" y="19202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3. LOGGING &amp;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240280"/>
            <a:ext cx="2377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- AccessLog-Instance-1 (5005): Primary log ingest worker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AccessLog-Instance-2 (5015): Replicated log ingest worker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Zero single-point-of-failure for badge logging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MongoDB Atlas (clusterdb): Cloud replica set with SSL/TLS encryption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Fully unified database state across UI and Postman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467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SERVICE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Microservices Container &amp; Port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Clear separation of concerns with Docker containerization and network isolation.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592127"/>
              </p:ext>
            </p:extLst>
          </p:nvPr>
        </p:nvGraphicFramePr>
        <p:xfrm>
          <a:off x="731520" y="1737360"/>
          <a:ext cx="9707880" cy="474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4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7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88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Service Name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Core Responsibilities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Data Store / Integration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8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4000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Reverse proxy, Load Balancer, Auth Gate, Web Console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In-memory Round-Robin State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8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Registration Service</a:t>
                      </a:r>
                    </a:p>
                  </a:txBody>
                  <a:tcPr>
                    <a:solidFill>
                      <a:srgbClr val="1821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5001</a:t>
                      </a:r>
                    </a:p>
                  </a:txBody>
                  <a:tcPr>
                    <a:solidFill>
                      <a:srgbClr val="1821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User registration, Campus Card ID generation</a:t>
                      </a:r>
                    </a:p>
                  </a:txBody>
                  <a:tcPr>
                    <a:solidFill>
                      <a:srgbClr val="1821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MongoDB Atlas (clusterdb.users)</a:t>
                      </a:r>
                    </a:p>
                  </a:txBody>
                  <a:tcPr>
                    <a:solidFill>
                      <a:srgbClr val="182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8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Authentication 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5002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Credential validation, JWT token signing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rPr dirty="0"/>
                        <a:t>MongoDB Atlas (</a:t>
                      </a:r>
                      <a:r>
                        <a:rPr dirty="0" err="1"/>
                        <a:t>clusterdb.users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8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Room Service</a:t>
                      </a:r>
                    </a:p>
                  </a:txBody>
                  <a:tcPr>
                    <a:solidFill>
                      <a:srgbClr val="1821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5003</a:t>
                      </a:r>
                    </a:p>
                  </a:txBody>
                  <a:tcPr>
                    <a:solidFill>
                      <a:srgbClr val="1821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Facility inventory, lock/unlock toggle</a:t>
                      </a:r>
                    </a:p>
                  </a:txBody>
                  <a:tcPr>
                    <a:solidFill>
                      <a:srgbClr val="1821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rPr dirty="0"/>
                        <a:t>MongoDB Atlas (</a:t>
                      </a:r>
                      <a:r>
                        <a:rPr dirty="0" err="1"/>
                        <a:t>clusterdb.rooms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182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8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Permission 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5004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Clearance checks (Student / Faculty / Admin)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rPr dirty="0"/>
                        <a:t>MongoDB Atlas (</a:t>
                      </a:r>
                      <a:r>
                        <a:rPr dirty="0" err="1"/>
                        <a:t>clusterdb.permissions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8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AccessLog-Instance-1</a:t>
                      </a:r>
                    </a:p>
                  </a:txBody>
                  <a:tcPr>
                    <a:solidFill>
                      <a:srgbClr val="1821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5005</a:t>
                      </a:r>
                    </a:p>
                  </a:txBody>
                  <a:tcPr>
                    <a:solidFill>
                      <a:srgbClr val="1821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High-throughput badge swipe logging (Worker 1)</a:t>
                      </a:r>
                    </a:p>
                  </a:txBody>
                  <a:tcPr>
                    <a:solidFill>
                      <a:srgbClr val="1821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MongoDB Atlas (clusterdb.accesslogs)</a:t>
                      </a:r>
                    </a:p>
                  </a:txBody>
                  <a:tcPr>
                    <a:solidFill>
                      <a:srgbClr val="182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8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dirty="0"/>
                        <a:t>AccessLog-Instance-2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5015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High-throughput badge swipe logging (Worker 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rPr dirty="0"/>
                        <a:t>MongoDB Atlas (</a:t>
                      </a:r>
                      <a:r>
                        <a:rPr dirty="0" err="1"/>
                        <a:t>clusterdb.accesslogs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8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lang="en-US" dirty="0"/>
                        <a:t>Student Service</a:t>
                      </a:r>
                      <a:endParaRPr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rPr lang="en-US" dirty="0"/>
                        <a:t>5007</a:t>
                      </a:r>
                      <a:endParaRPr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rPr lang="en-US" dirty="0"/>
                        <a:t>Update Profile, View Profile, room schedule</a:t>
                      </a:r>
                      <a:endParaRPr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rPr lang="en-US" dirty="0"/>
                        <a:t>MongoDB Atlas (</a:t>
                      </a:r>
                      <a:r>
                        <a:rPr lang="en-US" dirty="0" err="1"/>
                        <a:t>clusterdb.users</a:t>
                      </a:r>
                      <a:r>
                        <a:rPr lang="en-US" dirty="0"/>
                        <a:t>)</a:t>
                      </a:r>
                    </a:p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653039"/>
                  </a:ext>
                </a:extLst>
              </a:tr>
              <a:tr h="47488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rPr lang="en-US" dirty="0"/>
                        <a:t>Teacher Service</a:t>
                      </a:r>
                      <a:endParaRPr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rPr lang="en-US" dirty="0"/>
                        <a:t>5008</a:t>
                      </a:r>
                      <a:endParaRPr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rPr lang="en-US" dirty="0"/>
                        <a:t>Update Profile, View Profile, room schedule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rPr lang="en-US" dirty="0"/>
                        <a:t>MongoDB Atlas (</a:t>
                      </a:r>
                      <a:r>
                        <a:rPr lang="en-US" dirty="0" err="1"/>
                        <a:t>clusterdb.users</a:t>
                      </a:r>
                      <a:r>
                        <a:rPr lang="en-US" dirty="0"/>
                        <a:t>)</a:t>
                      </a:r>
                    </a:p>
                    <a:p>
                      <a:pPr>
                        <a:defRPr sz="105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endParaRPr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7118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LOAD BALANCING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Round-Robin Traffic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Zero-downtime badge swipe scaling between replicated AccessLog microservices.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ROUND-ROBIN DISPATCH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How the API Gateway Distributes Requests: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Round-Robin Rotation: Request 1 -&gt; Instance 1 (Port 5005), Request 2 -&gt; Instance 2 (Port 5015), Request 3 -&gt; Instance 1...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Guaranteed 50% / 50% load distribution across workers.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Response Header Verification: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  - X-Load-Balanced-By: API-Gateway-RoundRobin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  - X-Served-By-Instance: AccessLog-Instance-1 | AccessLog-Instance-2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Automatic Failover: If one instance fails, gateway health-checks reroute traffic to the surviving replica.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AUTOMATED INSPECTION &amp; TEST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Automated Test Suite Output (test.md Suite 5):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onsolas"/>
              </a:defRPr>
            </a:pPr>
            <a:r>
              <a:t>[PASS] 5.1 Swipe 1 Status Code is 200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Consolas"/>
              </a:defRPr>
            </a:pPr>
            <a:r>
              <a:t>       Header X-Load-Balanced-By: API-Gateway-RoundRobin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Consolas"/>
              </a:defRPr>
            </a:pPr>
            <a:r>
              <a:t>       Request 1 routed to: AccessLog-Instance-1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Consolas"/>
              </a:defRPr>
            </a:pPr>
            <a:endParaRPr/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onsolas"/>
              </a:defRPr>
            </a:pPr>
            <a:r>
              <a:t>[PASS] 5.2 Swipe 2 Status Code is 200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Consolas"/>
              </a:defRPr>
            </a:pPr>
            <a:r>
              <a:t>       Request 2 routed to: AccessLog-Instance-2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Consolas"/>
              </a:defRPr>
            </a:pPr>
            <a:endParaRPr/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  <a:latin typeface="Consolas"/>
              </a:defRPr>
            </a:pPr>
            <a:r>
              <a:t>[PASS] 5.3 Round-Robin Alternation Verified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Consolas"/>
              </a:defRPr>
            </a:pPr>
            <a:r>
              <a:t>       AccessLog-Instance-1 -&gt; AccessLog-Instance-2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SECURITY &amp;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Role-Based Access Control (RBAC) &amp; Negative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Stateless JWT bearer authorization protecting facility endpoints and enforcing strict clearance policies.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ROLE CLEARANCE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STUDENT ROLE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  - Allowed: Badge swipe on standard classrooms (e.g. ENG-301)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  - Restricted: Cannot create rooms (403 Forbidden)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  - Restricted: Cannot toggle locks; room list is Read-Only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  - Restricted: Cannot trigger emergency lockdowns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FACULTY ROLE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  - Allowed: Badge swipe on labs and classrooms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  - Restricted: Cannot create rooms or trigger lockdowns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ADMIN ROLE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  - Full Clearance: Create rooms, toggle locks, trigger lockdowns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  - Access to automated verification testing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NEGATIVE TEST ENFORCEMENT (ASSIGNMENT SPECS)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[PASS] 4.1 Wrong Password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POST /login with bad credentials returns 401 Unauthorized.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[PASS] 4.2 Missing Token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GET /api/rooms with no Authorization header returns 401 Unauthorized.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[PASS] 4.3 Invalid / Forged Token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GET /api/rooms with Bearer fake123 returns 403 Forbidden.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[PASS] 4.4 RBAC Restriction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POST /api/rooms with Student token returns 403: Role 'student' is unauthorized. Required: [admin].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CLOUD DATA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MongoDB Atlas Multi-Shard Cluster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Transitioned from local container storage to enterprise cloud database replica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DATABASE TOPOLOGY &amp;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- Target Cluster: MongoDB Atlas 3-Shard Replica Set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- Database: clusterdb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- Connection Security: SSL/TLS with admin authentication source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- Unified Configuration: Injected via root .env, all 6 microservice .env files, and docker-compose.yml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- Shared Collections: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-   - clusterdb.users (credentials, hashed passwords, roles)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-   - clusterdb.rooms (room specs, physical lock states)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-   - clusterdb.accesslogs (audit log with node timestamps)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REAL-TIME CROSS-PLATFORM SYNCHRONIZATION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Arial"/>
              </a:defRPr>
            </a:pPr>
            <a:r>
              <a:t>Unified Persistent State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Any user registered in Postman is immediately recognized by the Web Console and vice versa.</a:t>
            </a:r>
          </a:p>
          <a:p>
            <a:pPr>
              <a:spcBef>
                <a:spcPts val="800"/>
              </a:spcBef>
              <a:defRPr sz="1150" b="1">
                <a:solidFill>
                  <a:srgbClr val="38BDF8"/>
                </a:solidFill>
                <a:latin typeface="Arial"/>
              </a:defRPr>
            </a:pPr>
            <a:r>
              <a:t>Live Facility Locks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Engaging a deadbolt in Postman instantly flips the status badge to LOCKED in the web management UI.</a:t>
            </a:r>
          </a:p>
          <a:p>
            <a:pPr>
              <a:spcBef>
                <a:spcPts val="800"/>
              </a:spcBef>
              <a:defRPr sz="1150" b="1">
                <a:solidFill>
                  <a:srgbClr val="38BDF8"/>
                </a:solidFill>
                <a:latin typeface="Arial"/>
              </a:defRPr>
            </a:pPr>
            <a:r>
              <a:t>Audit Compliance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Every swipe action from any interface persists with timestamp, solenoid state, and serving instance name.</a:t>
            </a:r>
          </a:p>
          <a:p>
            <a:pPr>
              <a:spcBef>
                <a:spcPts val="800"/>
              </a:spcBef>
              <a:defRPr sz="1150" b="1">
                <a:solidFill>
                  <a:srgbClr val="38BDF8"/>
                </a:solidFill>
                <a:latin typeface="Arial"/>
              </a:defRPr>
            </a:pPr>
            <a:r>
              <a:t>Cloud Ready Deployment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Seamlessly deployable to AWS EC2 or Docker Swarm without data loss.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INCIDENT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Campus-Wide Emergency Lockdown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Orchestrated incident response enforcing campus-wide electronic deadbolts in milliseconds.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LOCKDOWN WORKFLOW &amp;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1. Incident Triggered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Administrator triggers lockdown via Web Console or POST /api/emergency/lockdown.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2. Emergency Broadcast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Emergency Service notifies Room Service to engage isEmergencyLocked across all rooms.</a:t>
            </a:r>
          </a:p>
          <a:p>
            <a:pPr>
              <a:spcBef>
                <a:spcPts val="600"/>
              </a:spcBef>
              <a:defRPr sz="1100" b="1">
                <a:solidFill>
                  <a:srgbClr val="EF4444"/>
                </a:solidFill>
                <a:latin typeface="Arial"/>
              </a:defRPr>
            </a:pPr>
            <a:r>
              <a:t>3. Door Solenoid Deadbolt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All electronic doors deadbolt immediately; normal badge clearances are revoked.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4. Rejection Policy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Any subsequent swipe attempt returns ACCESS DENIED (CAMPUS_EMERGENCY_LOCKDOWN).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Arial"/>
              </a:defRPr>
            </a:pPr>
            <a:r>
              <a:t>5. Lockdown Lifted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Admin issues POST /api/emergency/lift to safely restore standard permission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SECURITY GUARANTEES &amp; RBAC SHIELD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Arial"/>
              </a:defRPr>
            </a:pPr>
            <a:r>
              <a:t>Student &amp; Faculty Shield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Students and faculty are strictly prevented from initiating or cancelling lockdowns. UI displays 'Admin Clearance Required'.</a:t>
            </a:r>
          </a:p>
          <a:p>
            <a:pPr>
              <a:spcBef>
                <a:spcPts val="1000"/>
              </a:spcBef>
              <a:defRPr sz="1150" b="1">
                <a:solidFill>
                  <a:srgbClr val="38BDF8"/>
                </a:solidFill>
                <a:latin typeface="Arial"/>
              </a:defRPr>
            </a:pPr>
            <a:r>
              <a:t>Tamper-Proof Audit Logging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Every attempt to badge in during an emergency is logged to MongoDB Atlas with an emergency alert flag.</a:t>
            </a:r>
          </a:p>
          <a:p>
            <a:pPr>
              <a:spcBef>
                <a:spcPts val="1000"/>
              </a:spcBef>
              <a:defRPr sz="1150" b="1">
                <a:solidFill>
                  <a:srgbClr val="38BDF8"/>
                </a:solidFill>
                <a:latin typeface="Arial"/>
              </a:defRPr>
            </a:pPr>
            <a:r>
              <a:t>High-Availability Dispatch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The emergency broadcast operates asynchronously, preventing gateway bottleneck.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DEMONSTRATION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Interactive Web Console &amp;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Live operator dashboard at http://localhost:4000/ with dedicated auth portal and role-restricted 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AUTHENTICATION-FIRST GATEWAY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Arial"/>
              </a:defRPr>
            </a:pPr>
            <a:r>
              <a:t>Login Screen First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Unauthenticated visitors cannot access the dashboard until valid credentials are provided.</a:t>
            </a:r>
          </a:p>
          <a:p>
            <a:pPr>
              <a:spcBef>
                <a:spcPts val="800"/>
              </a:spcBef>
              <a:defRPr sz="1150" b="1">
                <a:solidFill>
                  <a:srgbClr val="38BDF8"/>
                </a:solidFill>
                <a:latin typeface="Arial"/>
              </a:defRPr>
            </a:pPr>
            <a:r>
              <a:t>Separated Registration Screen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Clean toggle between Sign In and Register New Identity cards; no cluttered side-by-side forms.</a:t>
            </a:r>
          </a:p>
          <a:p>
            <a:pPr>
              <a:spcBef>
                <a:spcPts val="800"/>
              </a:spcBef>
              <a:defRPr sz="1150" b="1">
                <a:solidFill>
                  <a:srgbClr val="38BDF8"/>
                </a:solidFill>
                <a:latin typeface="Arial"/>
              </a:defRPr>
            </a:pPr>
            <a:r>
              <a:t>Quick Demo Accounts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One-click Demo Admin, Faculty, and Student buttons for instantaneous grading verification.</a:t>
            </a:r>
          </a:p>
          <a:p>
            <a:pPr>
              <a:spcBef>
                <a:spcPts val="800"/>
              </a:spcBef>
              <a:defRPr sz="1150" b="1">
                <a:solidFill>
                  <a:srgbClr val="38BDF8"/>
                </a:solidFill>
                <a:latin typeface="Arial"/>
              </a:defRPr>
            </a:pPr>
            <a:r>
              <a:t>Clean Session Isolation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In-session role switcher buttons removed. Users must authentically sign out to switch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LIVE SIMULATION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Arial"/>
              </a:defRPr>
            </a:pPr>
            <a:r>
              <a:t>Load Balancer Traffic Monitor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Displays real-time request counts and percentage share between Instance 1 and Instance 2 with live pulse animation.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Physical Solenoid Status Indicator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Visual feedback box showing SOLENOID RELEASED (Green) or DOOR DEADBOLTED (Red) on every badge swipe.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Campus Room Management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Interactive room table with live Lock/Unlock controls for Admin and 'Read Only' policies for Students.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  <a:latin typeface="Arial"/>
              </a:defRPr>
            </a:pPr>
            <a:r>
              <a:t>Automated Verification Runner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Embedded terminal running test.md verification suite live with pass/fail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VERIFICATION &amp;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Postman Suite &amp; 100% Automated Test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Turnkey Postman collection with automated JWT token capture and complete test.md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POSTMAN COLLECTION V2.1.0 (READY TO IMPORT)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Files Included in Repository: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postman_collection.json and postman_environment.json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Automated Token Capture: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Login requests automatically extract data.token and store in {{adminToken}} or {{studentToken}}.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Zero Manual Copy-Pasting: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Subsequent requests automatically inherit authorization tokens.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Organized Test Folders: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1. Authentication &amp; Registration</a:t>
            </a:r>
            <a:br/>
            <a:r>
              <a:t>2. Room Management</a:t>
            </a:r>
            <a:br/>
            <a:r>
              <a:t>3. Negative Test Cases (401 &amp; 403)</a:t>
            </a:r>
            <a:br/>
            <a:r>
              <a:t>4. Door Swipe &amp; Round-Robin</a:t>
            </a:r>
            <a:br/>
            <a:r>
              <a:t>5. Emergency Alert &amp; Lockdown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AUTOMATED VERIFICATION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18 / 18 CHECKS PASSED (100% COMPLIANCE)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  [PASS] Suite 1: Registration Status 201 &amp; User ID Generation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  [PASS] Suite 2: Login Status 200 &amp; JWT Token Signature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  [PASS] Suite 3: Room Creation (201) &amp; Persistent Storage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  [PASS] Suite 4.1: Wrong Password -&gt; 401 Unauthorized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  [PASS] Suite 4.2: Missing Token -&gt; 401 Unauthorized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  [PASS] Suite 4.3: Invalid Token -&gt; 403 Forbidden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  [PASS] Suite 4.4: Student Role Denied Room Creation -&gt; 403 Forbidden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  [PASS] Suite 5.1 &amp; 5.2: Door Swipe Requests 1 &amp; 2 (200 OK)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  [PASS] Suite 5.3: Round-Robin Alternation (Instance-1 -&gt; Instance-2)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SUMMARY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Conclusion &amp; Engineering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Production-ready distributed architecture meeting all midterm project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KEY ARCHITECTURAL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Resilient Containerization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9 independent Docker containers connected on an isolated campus network.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Stateless Scalability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Round-Robin load balancer distributes log ingestion without sticky session bottlenecks.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Enterprise RBAC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Clear multi-tiered security separating administrative power from student users.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Cloud Multi-Shard Persistence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Robust data tier on MongoDB Atlas ensuring persistence beyond local container lifecycles.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Arial"/>
              </a:defRPr>
            </a:pPr>
            <a:r>
              <a:t>Complete Testability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100% test pass rate in automated suites and importable Postman collections.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LIVE DEMONSTRATION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READY FOR PRESENTATION &amp; EVALUATION: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1. Open http://localhost:4000/ -&gt; Show clean Sign In gate.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2. Sign in as Student -&gt; Show that Create Room &amp; Lockdown buttons are hidden.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3. Sign out -&gt; Sign in as Admin -&gt; Full administrative controls appear.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4. Click 'Swipe Badge' 4 times -&gt; Show 50/50 round-robin alternation between Instance 1 and Instance 2.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5. Lock room ENG-146 -&gt; Swipe again -&gt; Solenoid flashes red (DOOR DEADBOLTED).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6. Trigger Emergency Lockdown -&gt; Show all rooms locked instantly.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7. Click 'Run test.md Verification' -&gt; 18/18 tests pass live on screen.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Arial"/>
              </a:defRPr>
            </a:pPr>
            <a:r>
              <a:t>8. Open Postman -&gt; Send collection requests to prove cloud synchronization.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1843</Words>
  <Application>Microsoft Office PowerPoint</Application>
  <PresentationFormat>Widescreen</PresentationFormat>
  <Paragraphs>227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Chhoeun Vanpanhavan</cp:lastModifiedBy>
  <cp:revision>3</cp:revision>
  <dcterms:created xsi:type="dcterms:W3CDTF">2013-01-27T09:14:16Z</dcterms:created>
  <dcterms:modified xsi:type="dcterms:W3CDTF">2026-10-13T07:31:05Z</dcterms:modified>
  <cp:category/>
</cp:coreProperties>
</file>